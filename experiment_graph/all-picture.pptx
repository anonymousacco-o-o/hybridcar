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drawings/drawing1.xml" ContentType="application/vnd.openxmlformats-officedocument.drawingml.chartshap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3" r:id="rId6"/>
    <p:sldId id="260" r:id="rId7"/>
    <p:sldId id="262" r:id="rId8"/>
    <p:sldId id="261" r:id="rId9"/>
    <p:sldId id="268" r:id="rId10"/>
    <p:sldId id="269" r:id="rId11"/>
    <p:sldId id="270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8ED5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8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ticp\Desktop\iccad-&#23454;&#39564;&#25968;&#25454;\picture1-unit-uc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ticp\Desktop\iccad-&#23454;&#39564;&#25968;&#25454;\picture1-unit-uc.xlsx" TargetMode="External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ticp\Desktop\iccad-&#23454;&#39564;&#25968;&#25454;\picture2-comb-uc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microsoft.com/office/2011/relationships/chartStyle" Target="style4.xml"/><Relationship Id="rId1" Type="http://schemas.openxmlformats.org/officeDocument/2006/relationships/oleObject" Target="file:///C:\Users\ticp\Desktop\iccad-&#23454;&#39564;&#25968;&#25454;\picture2-comb-uc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microsoft.com/office/2011/relationships/chartStyle" Target="style5.xml"/><Relationship Id="rId1" Type="http://schemas.openxmlformats.org/officeDocument/2006/relationships/oleObject" Target="file:///C:\Users\ticp\Desktop\iccad-&#23454;&#39564;&#25968;&#25454;\picture2-comb-uc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ticp\Desktop\iccad-&#23454;&#39564;&#25968;&#25454;\picture2-comb-uc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ColorStyle" Target="colors7.xml"/><Relationship Id="rId2" Type="http://schemas.microsoft.com/office/2011/relationships/chartStyle" Target="style7.xml"/><Relationship Id="rId1" Type="http://schemas.openxmlformats.org/officeDocument/2006/relationships/oleObject" Target="file:///C:\Users\ticp\Desktop\iccad-&#23454;&#39564;&#25968;&#25454;\picture2-comb-uc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file:///C:\Users\ticp\Desktop\iccad-&#23454;&#39564;&#25968;&#25454;\picture3-hybrid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ColorStyle" Target="colors9.xml"/><Relationship Id="rId2" Type="http://schemas.microsoft.com/office/2011/relationships/chartStyle" Target="style9.xml"/><Relationship Id="rId1" Type="http://schemas.openxmlformats.org/officeDocument/2006/relationships/oleObject" Target="file:///C:\Users\ticp\Desktop\iccad-&#23454;&#39564;&#25968;&#25454;\picture3-hybrid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ColorStyle" Target="colors10.xml"/><Relationship Id="rId2" Type="http://schemas.microsoft.com/office/2011/relationships/chartStyle" Target="style10.xml"/><Relationship Id="rId1" Type="http://schemas.openxmlformats.org/officeDocument/2006/relationships/oleObject" Target="file:///C:\Users\ticp\Desktop\iccad-&#23454;&#39564;&#25968;&#25454;\picture3-hybri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7998610145935"/>
          <c:y val="0.137294563843236"/>
          <c:w val="0.859902710215427"/>
          <c:h val="0.70720606826801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'[picture1-unit-uc.xlsx]1-1 Which uc to pick'!$B$1</c:f>
              <c:strCache>
                <c:ptCount val="1"/>
                <c:pt idx="0">
                  <c:v>SOLVED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0.0298507462686567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noEndCap val="0"/>
            <c:plus>
              <c:numRef>
                <c:f>'[picture1-unit-uc.xlsx]1-1 Which uc to pick'!$D$2:$D$6</c:f>
                <c:numCache>
                  <c:formatCode>General</c:formatCode>
                  <c:ptCount val="5"/>
                  <c:pt idx="1">
                    <c:v>1</c:v>
                  </c:pt>
                </c:numCache>
              </c:numRef>
            </c:plus>
            <c:minus>
              <c:numRef>
                <c:f>'[picture1-unit-uc.xlsx]1-1 Which uc to pick'!$C$2:$C$6</c:f>
                <c:numCache>
                  <c:formatCode>General</c:formatCode>
                  <c:ptCount val="5"/>
                  <c:pt idx="1">
                    <c:v>0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'[picture1-unit-uc.xlsx]1-1 Which uc to pick'!$A$2:$A$6</c:f>
              <c:strCache>
                <c:ptCount val="5"/>
                <c:pt idx="0">
                  <c:v>NO-INTER</c:v>
                </c:pt>
                <c:pt idx="1">
                  <c:v>RAND</c:v>
                </c:pt>
                <c:pt idx="2">
                  <c:v>LONGEST</c:v>
                </c:pt>
                <c:pt idx="3">
                  <c:v>SHORTEST</c:v>
                </c:pt>
                <c:pt idx="4">
                  <c:v>LATEST</c:v>
                </c:pt>
              </c:strCache>
            </c:strRef>
          </c:cat>
          <c:val>
            <c:numRef>
              <c:f>'[picture1-unit-uc.xlsx]1-1 Which uc to pick'!$B$2:$B$6</c:f>
              <c:numCache>
                <c:formatCode>General</c:formatCode>
                <c:ptCount val="5"/>
                <c:pt idx="0">
                  <c:v>130</c:v>
                </c:pt>
                <c:pt idx="1">
                  <c:v>137</c:v>
                </c:pt>
                <c:pt idx="2">
                  <c:v>135</c:v>
                </c:pt>
                <c:pt idx="3">
                  <c:v>131</c:v>
                </c:pt>
                <c:pt idx="4">
                  <c:v>142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12408319"/>
        <c:axId val="470834519"/>
      </c:barChart>
      <c:catAx>
        <c:axId val="312408319"/>
        <c:scaling>
          <c:orientation val="minMax"/>
        </c:scaling>
        <c:delete val="0"/>
        <c:axPos val="b"/>
        <c:numFmt formatCode="&quot;￥&quot;#,##0.00_);[Red]\(&quot;￥&quot;#,##0.0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470834519"/>
        <c:crosses val="autoZero"/>
        <c:auto val="1"/>
        <c:lblAlgn val="ctr"/>
        <c:lblOffset val="100"/>
        <c:noMultiLvlLbl val="0"/>
      </c:catAx>
      <c:valAx>
        <c:axId val="470834519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 b="0"/>
                  <a:t>SOLVED COUNT</a:t>
                </a:r>
                <a:endParaRPr sz="900" b="0"/>
              </a:p>
            </c:rich>
          </c:tx>
          <c:layout>
            <c:manualLayout>
              <c:xMode val="edge"/>
              <c:yMode val="edge"/>
              <c:x val="0.0101215083508715"/>
              <c:y val="0.32609616987643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312408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b="1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757718206073"/>
          <c:y val="0.110879206887555"/>
          <c:w val="0.855037479354593"/>
          <c:h val="0.739472997651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'[picture1-unit-uc.xlsx]1-2 How to put uc'!$B$37</c:f>
              <c:strCache>
                <c:ptCount val="1"/>
                <c:pt idx="0">
                  <c:v>SOLVED 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5"/>
              <c:layout>
                <c:manualLayout>
                  <c:x val="-0.0328561163242953"/>
                  <c:y val="0.013898704358068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errBars>
            <c:errBarType val="both"/>
            <c:errValType val="cust"/>
            <c:noEndCap val="0"/>
            <c:plus>
              <c:numRef>
                <c:f>'[picture1-unit-uc.xlsx]1-2 How to put uc'!$C$38:$C$43</c:f>
                <c:numCache>
                  <c:formatCode>General</c:formatCode>
                  <c:ptCount val="6"/>
                  <c:pt idx="0">
                    <c:v>0</c:v>
                  </c:pt>
                  <c:pt idx="5">
                    <c:v>1</c:v>
                  </c:pt>
                </c:numCache>
              </c:numRef>
            </c:plus>
            <c:minus>
              <c:numRef>
                <c:f>'[picture1-unit-uc.xlsx]1-2 How to put uc'!$D$38:$D$43</c:f>
                <c:numCache>
                  <c:formatCode>General</c:formatCode>
                  <c:ptCount val="6"/>
                  <c:pt idx="0">
                    <c:v>0</c:v>
                  </c:pt>
                  <c:pt idx="5">
                    <c:v>1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'[picture1-unit-uc.xlsx]1-2 How to put uc'!$A$38:$A$43</c:f>
              <c:strCache>
                <c:ptCount val="6"/>
                <c:pt idx="0">
                  <c:v>RAND</c:v>
                </c:pt>
                <c:pt idx="1">
                  <c:v>FREQ</c:v>
                </c:pt>
                <c:pt idx="2">
                  <c:v>INORDER</c:v>
                </c:pt>
                <c:pt idx="3">
                  <c:v>REVERSE</c:v>
                </c:pt>
                <c:pt idx="4">
                  <c:v>CF_INORDER</c:v>
                </c:pt>
                <c:pt idx="5">
                  <c:v>CF_RAND</c:v>
                </c:pt>
              </c:strCache>
            </c:strRef>
          </c:cat>
          <c:val>
            <c:numRef>
              <c:f>'[picture1-unit-uc.xlsx]1-2 How to put uc'!$B$38:$B$43</c:f>
              <c:numCache>
                <c:formatCode>General</c:formatCode>
                <c:ptCount val="6"/>
                <c:pt idx="0">
                  <c:v>141</c:v>
                </c:pt>
                <c:pt idx="1">
                  <c:v>141</c:v>
                </c:pt>
                <c:pt idx="2">
                  <c:v>142</c:v>
                </c:pt>
                <c:pt idx="3">
                  <c:v>145</c:v>
                </c:pt>
                <c:pt idx="4">
                  <c:v>146</c:v>
                </c:pt>
                <c:pt idx="5">
                  <c:v>143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733247824"/>
        <c:axId val="252483876"/>
      </c:barChart>
      <c:catAx>
        <c:axId val="7332478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252483876"/>
        <c:crosses val="autoZero"/>
        <c:auto val="1"/>
        <c:lblAlgn val="ctr"/>
        <c:lblOffset val="100"/>
        <c:noMultiLvlLbl val="0"/>
      </c:catAx>
      <c:valAx>
        <c:axId val="252483876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1000"/>
                  <a:t>SOLVED COUNT</a:t>
                </a:r>
                <a:endParaRPr sz="1000"/>
              </a:p>
            </c:rich>
          </c:tx>
          <c:layout>
            <c:manualLayout>
              <c:xMode val="edge"/>
              <c:yMode val="edge"/>
              <c:x val="0.0105450387498412"/>
              <c:y val="0.30399165144795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73324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900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2728058798098"/>
          <c:y val="0.118577075098814"/>
          <c:w val="0.804582792909641"/>
          <c:h val="0.739920948616601"/>
        </c:manualLayout>
      </c:layout>
      <c:lineChart>
        <c:grouping val="standard"/>
        <c:varyColors val="0"/>
        <c:ser>
          <c:idx val="0"/>
          <c:order val="0"/>
          <c:tx>
            <c:strRef>
              <c:f>'[picture2-comb-uc.xlsx]2_1'!$B$4</c:f>
              <c:strCache>
                <c:ptCount val="1"/>
                <c:pt idx="0">
                  <c:v>  SOLVED COUNT</c:v>
                </c:pt>
              </c:strCache>
            </c:strRef>
          </c:tx>
          <c:spPr>
            <a:ln w="25400" cap="rnd">
              <a:solidFill>
                <a:srgbClr val="5B9BD5">
                  <a:alpha val="70000"/>
                </a:srgbClr>
              </a:solidFill>
              <a:round/>
              <a:headEnd type="oval"/>
              <a:tailEnd type="oval"/>
            </a:ln>
            <a:effectLst/>
            <a:sp3d contourW="25400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'[picture2-comb-uc.xlsx]2_1'!$A$5:$A$12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'[picture2-comb-uc.xlsx]2_1'!$B$5:$B$12</c:f>
              <c:numCache>
                <c:formatCode>General</c:formatCode>
                <c:ptCount val="8"/>
                <c:pt idx="0">
                  <c:v>129</c:v>
                </c:pt>
                <c:pt idx="1">
                  <c:v>146</c:v>
                </c:pt>
                <c:pt idx="2">
                  <c:v>150</c:v>
                </c:pt>
                <c:pt idx="3">
                  <c:v>156</c:v>
                </c:pt>
                <c:pt idx="4">
                  <c:v>154</c:v>
                </c:pt>
                <c:pt idx="5">
                  <c:v>155</c:v>
                </c:pt>
                <c:pt idx="6">
                  <c:v>154</c:v>
                </c:pt>
                <c:pt idx="7">
                  <c:v>151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733247824"/>
        <c:axId val="252483876"/>
      </c:lineChart>
      <c:catAx>
        <c:axId val="73324782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252483876"/>
        <c:crosses val="autoZero"/>
        <c:auto val="1"/>
        <c:lblAlgn val="ctr"/>
        <c:lblOffset val="100"/>
        <c:noMultiLvlLbl val="0"/>
      </c:catAx>
      <c:valAx>
        <c:axId val="252483876"/>
        <c:scaling>
          <c:orientation val="minMax"/>
          <c:max val="170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/>
                  <a:t>SOLVED COUNT</a:t>
                </a:r>
                <a:endParaRPr sz="900"/>
              </a:p>
            </c:rich>
          </c:tx>
          <c:layout>
            <c:manualLayout>
              <c:xMode val="edge"/>
              <c:yMode val="edge"/>
              <c:x val="0.0100864553314121"/>
              <c:y val="0.313171355498721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73324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000" b="0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9934671021932"/>
          <c:y val="0.0844339622641509"/>
          <c:w val="0.8357676154923"/>
          <c:h val="0.694858490566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'[picture2-comb-uc.xlsx]1'!$A$13</c:f>
              <c:strCache>
                <c:ptCount val="1"/>
                <c:pt idx="0">
                  <c:v>INORDER</c:v>
                </c:pt>
              </c:strCache>
            </c:strRef>
          </c:tx>
          <c:spPr>
            <a:solidFill>
              <a:srgbClr val="C00000">
                <a:alpha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'[picture2-comb-uc.xlsx]1'!$B$12:$F$12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'[picture2-comb-uc.xlsx]1'!$B$13:$F$13</c:f>
              <c:numCache>
                <c:formatCode>General</c:formatCode>
                <c:ptCount val="5"/>
                <c:pt idx="0">
                  <c:v>150</c:v>
                </c:pt>
                <c:pt idx="1">
                  <c:v>156</c:v>
                </c:pt>
                <c:pt idx="2">
                  <c:v>156</c:v>
                </c:pt>
                <c:pt idx="3">
                  <c:v>155</c:v>
                </c:pt>
                <c:pt idx="4">
                  <c:v>154</c:v>
                </c:pt>
              </c:numCache>
            </c:numRef>
          </c:val>
        </c:ser>
        <c:ser>
          <c:idx val="1"/>
          <c:order val="1"/>
          <c:tx>
            <c:strRef>
              <c:f>'[picture2-comb-uc.xlsx]1'!$A$14</c:f>
              <c:strCache>
                <c:ptCount val="1"/>
                <c:pt idx="0">
                  <c:v>RAND(SEED0)</c:v>
                </c:pt>
              </c:strCache>
            </c:strRef>
          </c:tx>
          <c:spPr>
            <a:solidFill>
              <a:srgbClr val="558ED5">
                <a:alpha val="8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'[picture2-comb-uc.xlsx]1'!$B$12:$F$12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'[picture2-comb-uc.xlsx]1'!$B$14:$F$14</c:f>
              <c:numCache>
                <c:formatCode>General</c:formatCode>
                <c:ptCount val="5"/>
                <c:pt idx="0">
                  <c:v>149</c:v>
                </c:pt>
                <c:pt idx="1">
                  <c:v>150</c:v>
                </c:pt>
                <c:pt idx="2">
                  <c:v>154</c:v>
                </c:pt>
                <c:pt idx="3">
                  <c:v>148</c:v>
                </c:pt>
                <c:pt idx="4">
                  <c:v>151</c:v>
                </c:pt>
              </c:numCache>
            </c:numRef>
          </c:val>
        </c:ser>
        <c:ser>
          <c:idx val="2"/>
          <c:order val="2"/>
          <c:tx>
            <c:strRef>
              <c:f>'[picture2-comb-uc.xlsx]1'!$A$15</c:f>
              <c:strCache>
                <c:ptCount val="1"/>
                <c:pt idx="0">
                  <c:v>RAND(SEED1)</c:v>
                </c:pt>
              </c:strCache>
            </c:strRef>
          </c:tx>
          <c:spPr>
            <a:solidFill>
              <a:srgbClr val="8EB4E3">
                <a:alpha val="80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'[picture2-comb-uc.xlsx]1'!$B$12:$F$12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'[picture2-comb-uc.xlsx]1'!$B$15:$F$15</c:f>
              <c:numCache>
                <c:formatCode>General</c:formatCode>
                <c:ptCount val="5"/>
                <c:pt idx="0">
                  <c:v>149</c:v>
                </c:pt>
                <c:pt idx="1">
                  <c:v>151</c:v>
                </c:pt>
                <c:pt idx="2">
                  <c:v>151</c:v>
                </c:pt>
                <c:pt idx="3">
                  <c:v>148</c:v>
                </c:pt>
                <c:pt idx="4">
                  <c:v>151</c:v>
                </c:pt>
              </c:numCache>
            </c:numRef>
          </c:val>
        </c:ser>
        <c:ser>
          <c:idx val="3"/>
          <c:order val="3"/>
          <c:tx>
            <c:strRef>
              <c:f>'[picture2-comb-uc.xlsx]1'!$A$16</c:f>
              <c:strCache>
                <c:ptCount val="1"/>
                <c:pt idx="0">
                  <c:v>RAND(SEED2)</c:v>
                </c:pt>
              </c:strCache>
            </c:strRef>
          </c:tx>
          <c:spPr>
            <a:solidFill>
              <a:schemeClr val="tx2">
                <a:lumMod val="20000"/>
                <a:lumOff val="80000"/>
                <a:alpha val="8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'[picture2-comb-uc.xlsx]1'!$B$12:$F$12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6</c:v>
                </c:pt>
              </c:numCache>
            </c:numRef>
          </c:cat>
          <c:val>
            <c:numRef>
              <c:f>'[picture2-comb-uc.xlsx]1'!$B$16:$F$16</c:f>
              <c:numCache>
                <c:formatCode>General</c:formatCode>
                <c:ptCount val="5"/>
                <c:pt idx="0">
                  <c:v>150</c:v>
                </c:pt>
                <c:pt idx="1">
                  <c:v>151</c:v>
                </c:pt>
                <c:pt idx="2">
                  <c:v>156</c:v>
                </c:pt>
                <c:pt idx="3">
                  <c:v>149</c:v>
                </c:pt>
                <c:pt idx="4">
                  <c:v>149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65712842"/>
        <c:axId val="629971997"/>
      </c:barChart>
      <c:catAx>
        <c:axId val="26571284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2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 sz="1200" b="1"/>
                  <a:t>i</a:t>
                </a:r>
                <a:endParaRPr lang="en-US" altLang="zh-CN" sz="1200" b="1"/>
              </a:p>
            </c:rich>
          </c:tx>
          <c:layout>
            <c:manualLayout>
              <c:xMode val="edge"/>
              <c:yMode val="edge"/>
              <c:x val="0.965760615958936"/>
              <c:y val="0.80867133285475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629971997"/>
        <c:crosses val="autoZero"/>
        <c:auto val="1"/>
        <c:lblAlgn val="ctr"/>
        <c:lblOffset val="100"/>
        <c:noMultiLvlLbl val="0"/>
      </c:catAx>
      <c:valAx>
        <c:axId val="629971997"/>
        <c:scaling>
          <c:orientation val="minMax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2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1200"/>
                  <a:t>SOLVED COUNT</a:t>
                </a:r>
                <a:endParaRPr sz="1200"/>
              </a:p>
            </c:rich>
          </c:tx>
          <c:layout>
            <c:manualLayout>
              <c:xMode val="edge"/>
              <c:yMode val="edge"/>
              <c:x val="0.016086812932624"/>
              <c:y val="0.280424528301887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26571284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ayout>
        <c:manualLayout>
          <c:xMode val="edge"/>
          <c:yMode val="edge"/>
          <c:x val="0.101143257116192"/>
          <c:y val="0.9"/>
          <c:w val="0.891273915072329"/>
          <c:h val="0.0636792452830189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Cambria" panose="02040503050406030204" charset="0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800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028637177193"/>
          <c:y val="0.136435748281333"/>
          <c:w val="0.801201738685758"/>
          <c:h val="0.638286620835537"/>
        </c:manualLayout>
      </c:layout>
      <c:lineChart>
        <c:grouping val="standard"/>
        <c:varyColors val="0"/>
        <c:ser>
          <c:idx val="0"/>
          <c:order val="0"/>
          <c:tx>
            <c:strRef>
              <c:f>'[picture2-comb-uc.xlsx]2_2'!$B$1</c:f>
              <c:strCache>
                <c:ptCount val="1"/>
                <c:pt idx="0">
                  <c:v>  CUMULATIVE SOLVED   </c:v>
                </c:pt>
              </c:strCache>
            </c:strRef>
          </c:tx>
          <c:spPr>
            <a:ln w="12700" cap="rnd" cmpd="sng">
              <a:solidFill>
                <a:srgbClr val="C00000">
                  <a:alpha val="70000"/>
                </a:srgbClr>
              </a:solidFill>
              <a:prstDash val="solid"/>
              <a:round/>
              <a:headEnd type="oval"/>
              <a:tailEnd type="oval"/>
            </a:ln>
            <a:effectLst/>
            <a:sp3d contourW="12700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'[picture2-comb-uc.xlsx]2_2'!$A$2:$A$9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'[picture2-comb-uc.xlsx]2_2'!$B$2:$B$9</c:f>
              <c:numCache>
                <c:formatCode>General</c:formatCode>
                <c:ptCount val="8"/>
                <c:pt idx="0">
                  <c:v>129</c:v>
                </c:pt>
                <c:pt idx="1">
                  <c:v>147</c:v>
                </c:pt>
                <c:pt idx="2">
                  <c:v>157</c:v>
                </c:pt>
                <c:pt idx="3">
                  <c:v>162</c:v>
                </c:pt>
                <c:pt idx="4">
                  <c:v>163</c:v>
                </c:pt>
                <c:pt idx="5">
                  <c:v>163</c:v>
                </c:pt>
                <c:pt idx="6">
                  <c:v>164</c:v>
                </c:pt>
                <c:pt idx="7">
                  <c:v>164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577298213"/>
        <c:axId val="249174397"/>
      </c:lineChart>
      <c:lineChart>
        <c:grouping val="standard"/>
        <c:varyColors val="0"/>
        <c:ser>
          <c:idx val="1"/>
          <c:order val="1"/>
          <c:tx>
            <c:strRef>
              <c:f>'[picture2-comb-uc.xlsx]2_2'!$C$1</c:f>
              <c:strCache>
                <c:ptCount val="1"/>
                <c:pt idx="0">
                  <c:v>  NEW SOLVED</c:v>
                </c:pt>
              </c:strCache>
            </c:strRef>
          </c:tx>
          <c:spPr>
            <a:ln w="28575" cap="rnd">
              <a:solidFill>
                <a:srgbClr val="5B9BD5">
                  <a:alpha val="70000"/>
                </a:srgbClr>
              </a:solidFill>
              <a:round/>
              <a:headEnd type="diamond"/>
              <a:tailEnd type="diamond"/>
            </a:ln>
            <a:effectLst/>
            <a:sp3d contourW="28575"/>
          </c:spPr>
          <c:marker>
            <c:symbol val="none"/>
          </c:marker>
          <c:dLbls>
            <c:dLbl>
              <c:idx val="0"/>
              <c:delete val="1"/>
            </c:dLbl>
            <c:dLbl>
              <c:idx val="5"/>
              <c:delete val="1"/>
            </c:dLbl>
            <c:dLbl>
              <c:idx val="7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'[picture2-comb-uc.xlsx]2_2'!$A$2:$A$9</c:f>
              <c:numCache>
                <c:formatCode>General</c:formatCode>
                <c:ptCount val="8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</c:numCache>
            </c:numRef>
          </c:cat>
          <c:val>
            <c:numRef>
              <c:f>'[picture2-comb-uc.xlsx]2_2'!$C$2:$C$9</c:f>
              <c:numCache>
                <c:formatCode>General</c:formatCode>
                <c:ptCount val="8"/>
                <c:pt idx="0">
                  <c:v>0</c:v>
                </c:pt>
                <c:pt idx="1">
                  <c:v>18</c:v>
                </c:pt>
                <c:pt idx="2">
                  <c:v>10</c:v>
                </c:pt>
                <c:pt idx="3">
                  <c:v>5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117641268"/>
        <c:axId val="971670320"/>
      </c:lineChart>
      <c:catAx>
        <c:axId val="577298213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 sz="1000"/>
                  <a:t>i</a:t>
                </a:r>
                <a:endParaRPr sz="1000"/>
              </a:p>
            </c:rich>
          </c:tx>
          <c:layout>
            <c:manualLayout>
              <c:xMode val="edge"/>
              <c:yMode val="edge"/>
              <c:x val="0.923805061425916"/>
              <c:y val="0.804667121343692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249174397"/>
        <c:crosses val="autoZero"/>
        <c:auto val="1"/>
        <c:lblAlgn val="ctr"/>
        <c:lblOffset val="100"/>
        <c:noMultiLvlLbl val="0"/>
      </c:catAx>
      <c:valAx>
        <c:axId val="249174397"/>
        <c:scaling>
          <c:orientation val="minMax"/>
          <c:min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 b="0"/>
                  <a:t>SOLVED COUNT </a:t>
                </a:r>
                <a:endParaRPr sz="900" b="0"/>
              </a:p>
            </c:rich>
          </c:tx>
          <c:layout>
            <c:manualLayout>
              <c:xMode val="edge"/>
              <c:yMode val="edge"/>
              <c:x val="0.00668164298831978"/>
              <c:y val="0.29723813967973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C00000"/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577298213"/>
        <c:crosses val="autoZero"/>
        <c:crossBetween val="between"/>
      </c:valAx>
      <c:catAx>
        <c:axId val="117641268"/>
        <c:scaling>
          <c:orientation val="minMax"/>
        </c:scaling>
        <c:delete val="1"/>
        <c:axPos val="b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971670320"/>
        <c:crosses val="autoZero"/>
        <c:auto val="1"/>
        <c:lblAlgn val="ctr"/>
        <c:lblOffset val="100"/>
        <c:noMultiLvlLbl val="0"/>
      </c:catAx>
      <c:valAx>
        <c:axId val="971670320"/>
        <c:scaling>
          <c:orientation val="minMax"/>
          <c:max val="35"/>
        </c:scaling>
        <c:delete val="0"/>
        <c:axPos val="r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 b="0"/>
                  <a:t>SOLVED COUNT </a:t>
                </a:r>
                <a:endParaRPr sz="900" b="0"/>
              </a:p>
            </c:rich>
          </c:tx>
          <c:layout>
            <c:manualLayout>
              <c:xMode val="edge"/>
              <c:yMode val="edge"/>
              <c:x val="0.960212873796249"/>
              <c:y val="0.320899209486166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2">
                    <a:lumMod val="60000"/>
                    <a:lumOff val="40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117641268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ayout>
        <c:manualLayout>
          <c:xMode val="edge"/>
          <c:yMode val="edge"/>
          <c:x val="0.130131695010694"/>
          <c:y val="0.904686677198526"/>
          <c:w val="0.773417395779722"/>
          <c:h val="0.079515534491837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Cambria" panose="02040503050406030204" charset="0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1000" b="1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9005279244235"/>
          <c:y val="0.113763702801462"/>
          <c:w val="0.802917477076966"/>
          <c:h val="0.687064555420219"/>
        </c:manualLayout>
      </c:layout>
      <c:lineChart>
        <c:grouping val="standard"/>
        <c:varyColors val="0"/>
        <c:ser>
          <c:idx val="2"/>
          <c:order val="0"/>
          <c:tx>
            <c:strRef>
              <c:f>'[picture2-comb-uc.xlsx]2_3'!$C$1</c:f>
              <c:strCache>
                <c:ptCount val="1"/>
                <c:pt idx="0">
                  <c:v> i1</c:v>
                </c:pt>
              </c:strCache>
            </c:strRef>
          </c:tx>
          <c:spPr>
            <a:ln w="19050" cap="rnd">
              <a:solidFill>
                <a:srgbClr val="5B9BD5">
                  <a:alpha val="75000"/>
                </a:srgbClr>
              </a:solidFill>
              <a:round/>
            </a:ln>
            <a:effectLst/>
            <a:sp3d contourW="19050"/>
          </c:spPr>
          <c:marker>
            <c:symbol val="triangle"/>
            <c:size val="6"/>
            <c:spPr>
              <a:solidFill>
                <a:srgbClr val="0070C0">
                  <a:alpha val="75000"/>
                </a:srgbClr>
              </a:solidFill>
              <a:ln w="9525">
                <a:solidFill>
                  <a:srgbClr val="5B9BD5">
                    <a:alpha val="75000"/>
                  </a:srgbClr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0.00124861265260821"/>
                  <c:y val="0.11357607799194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.00124861265260821"/>
                  <c:y val="0.11567397986170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0.00110987791342952"/>
                  <c:y val="0.115674469225335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235849056603774"/>
                  <c:y val="0.107747702818387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235849056603774"/>
                  <c:y val="0.107748192182014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'[picture2-comb-uc.xlsx]2_3'!$A$2:$A$7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'[picture2-comb-uc.xlsx]2_3'!$C$2:$C$7</c:f>
              <c:numCache>
                <c:formatCode>General</c:formatCode>
                <c:ptCount val="6"/>
                <c:pt idx="0">
                  <c:v>146</c:v>
                </c:pt>
                <c:pt idx="1">
                  <c:v>146</c:v>
                </c:pt>
                <c:pt idx="2">
                  <c:v>148</c:v>
                </c:pt>
                <c:pt idx="3">
                  <c:v>148</c:v>
                </c:pt>
                <c:pt idx="4">
                  <c:v>149</c:v>
                </c:pt>
                <c:pt idx="5">
                  <c:v>149</c:v>
                </c:pt>
              </c:numCache>
            </c:numRef>
          </c:val>
          <c:smooth val="0"/>
        </c:ser>
        <c:ser>
          <c:idx val="0"/>
          <c:order val="1"/>
          <c:tx>
            <c:strRef>
              <c:f>'[picture2-comb-uc.xlsx]2_3'!$B$1</c:f>
              <c:strCache>
                <c:ptCount val="1"/>
                <c:pt idx="0">
                  <c:v> i1-i6</c:v>
                </c:pt>
              </c:strCache>
            </c:strRef>
          </c:tx>
          <c:spPr>
            <a:ln w="19050" cap="rnd">
              <a:solidFill>
                <a:srgbClr val="C00000">
                  <a:alpha val="60000"/>
                </a:srgbClr>
              </a:solidFill>
              <a:round/>
            </a:ln>
            <a:effectLst/>
            <a:sp3d contourW="19050"/>
          </c:spPr>
          <c:marker>
            <c:symbol val="diamond"/>
            <c:size val="6"/>
            <c:spPr>
              <a:solidFill>
                <a:srgbClr val="C00000">
                  <a:alpha val="60000"/>
                </a:srgbClr>
              </a:solidFill>
              <a:ln w="9525">
                <a:solidFill>
                  <a:srgbClr val="C00000">
                    <a:alpha val="60000"/>
                  </a:srgb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'[picture2-comb-uc.xlsx]2_3'!$A$2:$A$7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'[picture2-comb-uc.xlsx]2_3'!$B$2:$B$7</c:f>
              <c:numCache>
                <c:formatCode>General</c:formatCode>
                <c:ptCount val="6"/>
                <c:pt idx="0">
                  <c:v>146</c:v>
                </c:pt>
                <c:pt idx="1">
                  <c:v>157</c:v>
                </c:pt>
                <c:pt idx="2">
                  <c:v>162</c:v>
                </c:pt>
                <c:pt idx="3">
                  <c:v>163</c:v>
                </c:pt>
                <c:pt idx="4">
                  <c:v>163</c:v>
                </c:pt>
                <c:pt idx="5">
                  <c:v>164</c:v>
                </c:pt>
              </c:numCache>
            </c:numRef>
          </c:val>
          <c:smooth val="0"/>
        </c:ser>
        <c:ser>
          <c:idx val="1"/>
          <c:order val="2"/>
          <c:tx>
            <c:strRef>
              <c:f>'[picture2-comb-uc.xlsx]2_3'!$D$1</c:f>
              <c:strCache>
                <c:ptCount val="1"/>
                <c:pt idx="0">
                  <c:v> i1-RAND(0-4)</c:v>
                </c:pt>
              </c:strCache>
            </c:strRef>
          </c:tx>
          <c:spPr>
            <a:ln w="19050" cap="rnd">
              <a:solidFill>
                <a:schemeClr val="bg1">
                  <a:lumMod val="65000"/>
                  <a:alpha val="80000"/>
                </a:schemeClr>
              </a:solidFill>
              <a:round/>
            </a:ln>
            <a:effectLst/>
            <a:sp3d contourW="19050"/>
          </c:spPr>
          <c:marker>
            <c:symbol val="square"/>
            <c:size val="6"/>
            <c:spPr>
              <a:solidFill>
                <a:schemeClr val="bg1">
                  <a:lumMod val="65000"/>
                  <a:alpha val="80000"/>
                </a:schemeClr>
              </a:solidFill>
              <a:ln w="6350">
                <a:solidFill>
                  <a:schemeClr val="bg1">
                    <a:lumMod val="75000"/>
                    <a:alpha val="86000"/>
                  </a:schemeClr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'[picture2-comb-uc.xlsx]2_3'!$A$2:$A$7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'[picture2-comb-uc.xlsx]2_3'!$D$2:$D$7</c:f>
              <c:numCache>
                <c:formatCode>General</c:formatCode>
                <c:ptCount val="6"/>
                <c:pt idx="0">
                  <c:v>146</c:v>
                </c:pt>
                <c:pt idx="1">
                  <c:v>150</c:v>
                </c:pt>
                <c:pt idx="2">
                  <c:v>150</c:v>
                </c:pt>
                <c:pt idx="3">
                  <c:v>150</c:v>
                </c:pt>
                <c:pt idx="4">
                  <c:v>151</c:v>
                </c:pt>
                <c:pt idx="5">
                  <c:v>152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645712996"/>
        <c:axId val="961128199"/>
      </c:lineChart>
      <c:catAx>
        <c:axId val="645712996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time(h)</a:t>
                </a:r>
                <a:endParaRPr sz="900"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89006401335931"/>
              <c:y val="0.82133704672181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961128199"/>
        <c:crossesAt val="0"/>
        <c:auto val="1"/>
        <c:lblAlgn val="ctr"/>
        <c:lblOffset val="100"/>
        <c:noMultiLvlLbl val="0"/>
      </c:catAx>
      <c:valAx>
        <c:axId val="961128199"/>
        <c:scaling>
          <c:orientation val="minMax"/>
          <c:max val="180"/>
          <c:min val="13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solved count</a:t>
                </a:r>
                <a:endParaRPr sz="900"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0152889826912523"/>
              <c:y val="0.296078558049385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64571299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ayout>
        <c:manualLayout>
          <c:xMode val="edge"/>
          <c:yMode val="edge"/>
          <c:x val="0.27644030058447"/>
          <c:y val="0.898890569843671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Cambria" panose="02040503050406030204" charset="0"/>
            </a:defRPr>
          </a:pPr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sz="900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5526061108807"/>
          <c:y val="0.0903614457831325"/>
          <c:w val="0.840094013549011"/>
          <c:h val="0.71159638554216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'[picture2-comb-uc.xlsx]3'!$A$23</c:f>
              <c:strCache>
                <c:ptCount val="1"/>
                <c:pt idx="0">
                  <c:v>r0</c:v>
                </c:pt>
              </c:strCache>
            </c:strRef>
          </c:tx>
          <c:spPr>
            <a:solidFill>
              <a:srgbClr val="C6D9F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00416666666666667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0.00555555555555556"/>
                  <c:y val="0.0078947368421052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0.002631578947368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.00138888888888889"/>
                  <c:y val="0.002631578947368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6"/>
              <c:layout>
                <c:manualLayout>
                  <c:x val="0"/>
                  <c:y val="0.0052631578947368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'[picture2-comb-uc.xlsx]3'!$B$22:$H$22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'[picture2-comb-uc.xlsx]3'!$B$23:$H$23</c:f>
              <c:numCache>
                <c:formatCode>General</c:formatCode>
                <c:ptCount val="7"/>
                <c:pt idx="0">
                  <c:v>129</c:v>
                </c:pt>
                <c:pt idx="1">
                  <c:v>146</c:v>
                </c:pt>
                <c:pt idx="2">
                  <c:v>150</c:v>
                </c:pt>
                <c:pt idx="3">
                  <c:v>156</c:v>
                </c:pt>
                <c:pt idx="4">
                  <c:v>154</c:v>
                </c:pt>
                <c:pt idx="5">
                  <c:v>155</c:v>
                </c:pt>
                <c:pt idx="6">
                  <c:v>154</c:v>
                </c:pt>
              </c:numCache>
            </c:numRef>
          </c:val>
        </c:ser>
        <c:ser>
          <c:idx val="1"/>
          <c:order val="1"/>
          <c:tx>
            <c:strRef>
              <c:f>'[picture2-comb-uc.xlsx]3'!$A$24</c:f>
              <c:strCache>
                <c:ptCount val="1"/>
                <c:pt idx="0">
                  <c:v>r1</c:v>
                </c:pt>
              </c:strCache>
            </c:strRef>
          </c:tx>
          <c:spPr>
            <a:solidFill>
              <a:srgbClr val="8EB4E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0.00555555555555556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138888888888889"/>
                  <c:y val="0.0052631578947368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5"/>
              <c:layout>
                <c:manualLayout>
                  <c:x val="0"/>
                  <c:y val="0.0026315789473684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'[picture2-comb-uc.xlsx]3'!$B$22:$H$22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'[picture2-comb-uc.xlsx]3'!$B$24:$H$24</c:f>
              <c:numCache>
                <c:formatCode>General</c:formatCode>
                <c:ptCount val="7"/>
                <c:pt idx="0">
                  <c:v>147</c:v>
                </c:pt>
                <c:pt idx="1">
                  <c:v>148</c:v>
                </c:pt>
                <c:pt idx="2">
                  <c:v>153</c:v>
                </c:pt>
                <c:pt idx="3">
                  <c:v>153</c:v>
                </c:pt>
                <c:pt idx="4">
                  <c:v>150</c:v>
                </c:pt>
                <c:pt idx="5">
                  <c:v>153</c:v>
                </c:pt>
                <c:pt idx="6">
                  <c:v>150</c:v>
                </c:pt>
              </c:numCache>
            </c:numRef>
          </c:val>
        </c:ser>
        <c:ser>
          <c:idx val="2"/>
          <c:order val="2"/>
          <c:tx>
            <c:strRef>
              <c:f>'[picture2-comb-uc.xlsx]3'!$A$25</c:f>
              <c:strCache>
                <c:ptCount val="1"/>
                <c:pt idx="0">
                  <c:v>r0+r1</c:v>
                </c:pt>
              </c:strCache>
            </c:strRef>
          </c:tx>
          <c:spPr>
            <a:solidFill>
              <a:srgbClr val="C00000">
                <a:alpha val="75000"/>
              </a:srgbClr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00277777777777778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'[picture2-comb-uc.xlsx]3'!$B$22:$H$22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numCache>
            </c:numRef>
          </c:cat>
          <c:val>
            <c:numRef>
              <c:f>'[picture2-comb-uc.xlsx]3'!$B$25:$H$25</c:f>
              <c:numCache>
                <c:formatCode>General</c:formatCode>
                <c:ptCount val="7"/>
                <c:pt idx="0">
                  <c:v>147</c:v>
                </c:pt>
                <c:pt idx="1">
                  <c:v>154</c:v>
                </c:pt>
                <c:pt idx="2">
                  <c:v>158</c:v>
                </c:pt>
                <c:pt idx="3">
                  <c:v>158</c:v>
                </c:pt>
                <c:pt idx="4">
                  <c:v>157</c:v>
                </c:pt>
                <c:pt idx="5">
                  <c:v>158</c:v>
                </c:pt>
                <c:pt idx="6">
                  <c:v>158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74046803"/>
        <c:axId val="498480361"/>
      </c:barChart>
      <c:catAx>
        <c:axId val="374046803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 b="1"/>
                  <a:t>i</a:t>
                </a:r>
                <a:endParaRPr lang="en-US" altLang="zh-CN" b="1"/>
              </a:p>
            </c:rich>
          </c:tx>
          <c:layout>
            <c:manualLayout>
              <c:xMode val="edge"/>
              <c:yMode val="edge"/>
              <c:x val="0.963820423752247"/>
              <c:y val="0.824219201746192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498480361"/>
        <c:crosses val="autoZero"/>
        <c:auto val="1"/>
        <c:lblAlgn val="ctr"/>
        <c:lblOffset val="100"/>
        <c:noMultiLvlLbl val="0"/>
      </c:catAx>
      <c:valAx>
        <c:axId val="498480361"/>
        <c:scaling>
          <c:orientation val="minMax"/>
          <c:max val="170"/>
          <c:min val="120"/>
        </c:scaling>
        <c:delete val="0"/>
        <c:axPos val="l"/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SOLVED COUNT</a:t>
                </a:r>
                <a:endParaRPr sz="900"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013055555555556"/>
              <c:y val="0.255657894736842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374046803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ayout>
        <c:manualLayout>
          <c:xMode val="edge"/>
          <c:yMode val="edge"/>
          <c:x val="0.373330280197244"/>
          <c:y val="0.905026543157155"/>
          <c:w val="0.33125"/>
          <c:h val="0.077546296296296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Cambria" panose="02040503050406030204" charset="0"/>
            </a:defRPr>
          </a:pPr>
        </a:p>
      </c:txPr>
    </c:legend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0561133269151"/>
          <c:y val="0.111964329947981"/>
          <c:w val="0.797744464310274"/>
          <c:h val="0.685509041367352"/>
        </c:manualLayout>
      </c:layout>
      <c:lineChart>
        <c:grouping val="standard"/>
        <c:varyColors val="0"/>
        <c:ser>
          <c:idx val="0"/>
          <c:order val="0"/>
          <c:tx>
            <c:strRef>
              <c:f>'[picture3-hybrid.xlsx]1'!$A$2</c:f>
              <c:strCache>
                <c:ptCount val="1"/>
                <c:pt idx="0">
                  <c:v>  i_Limit=4</c:v>
                </c:pt>
              </c:strCache>
            </c:strRef>
          </c:tx>
          <c:spPr>
            <a:ln w="22225" cap="rnd">
              <a:solidFill>
                <a:schemeClr val="accent1">
                  <a:alpha val="75000"/>
                </a:schemeClr>
              </a:solidFill>
              <a:round/>
            </a:ln>
            <a:effectLst/>
          </c:spPr>
          <c:marker>
            <c:symbol val="diamond"/>
            <c:size val="6"/>
            <c:spPr>
              <a:solidFill>
                <a:schemeClr val="accent1">
                  <a:alpha val="75000"/>
                </a:schemeClr>
              </a:solidFill>
              <a:ln w="6350">
                <a:solidFill>
                  <a:schemeClr val="accent1">
                    <a:alpha val="75000"/>
                  </a:schemeClr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0.0118697064725058"/>
                  <c:y val="0.0237950808527153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0"/>
                  <c:y val="0.0214848412508952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0662251655629139"/>
                  <c:y val="0.014323227500596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'[picture3-hybrid.xlsx]1'!$B$1:$F$1</c:f>
              <c:numCache>
                <c:formatCode>General</c:formatCode>
                <c:ptCount val="5"/>
                <c:pt idx="0">
                  <c:v>60</c:v>
                </c:pt>
                <c:pt idx="1">
                  <c:v>120</c:v>
                </c:pt>
                <c:pt idx="2">
                  <c:v>180</c:v>
                </c:pt>
                <c:pt idx="3">
                  <c:v>240</c:v>
                </c:pt>
                <c:pt idx="4">
                  <c:v>300</c:v>
                </c:pt>
              </c:numCache>
            </c:numRef>
          </c:cat>
          <c:val>
            <c:numRef>
              <c:f>'[picture3-hybrid.xlsx]1'!$B$2:$F$2</c:f>
              <c:numCache>
                <c:formatCode>General</c:formatCode>
                <c:ptCount val="5"/>
                <c:pt idx="0">
                  <c:v>158</c:v>
                </c:pt>
                <c:pt idx="1">
                  <c:v>160</c:v>
                </c:pt>
                <c:pt idx="2">
                  <c:v>160</c:v>
                </c:pt>
                <c:pt idx="3">
                  <c:v>160</c:v>
                </c:pt>
                <c:pt idx="4">
                  <c:v>158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'[picture3-hybrid.xlsx]1'!$A$3</c:f>
              <c:strCache>
                <c:ptCount val="1"/>
                <c:pt idx="0">
                  <c:v>  i_Limit=5</c:v>
                </c:pt>
              </c:strCache>
            </c:strRef>
          </c:tx>
          <c:spPr>
            <a:ln w="22225" cap="rnd">
              <a:solidFill>
                <a:srgbClr val="C00000">
                  <a:alpha val="60000"/>
                </a:srgbClr>
              </a:solidFill>
              <a:round/>
            </a:ln>
            <a:effectLst/>
          </c:spPr>
          <c:marker>
            <c:symbol val="square"/>
            <c:size val="6"/>
            <c:spPr>
              <a:solidFill>
                <a:srgbClr val="C00000">
                  <a:alpha val="60000"/>
                </a:srgbClr>
              </a:solidFill>
              <a:ln w="9525">
                <a:solidFill>
                  <a:srgbClr val="C00000">
                    <a:alpha val="60000"/>
                  </a:srgbClr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0"/>
                  <c:y val="0.0286464550011936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</c:dLbl>
            <c:dLbl>
              <c:idx val="2"/>
              <c:layout>
                <c:manualLayout>
                  <c:x val="0.00264900662251656"/>
                  <c:y val="0.031649918740153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delete val="1"/>
            </c:dLbl>
            <c:dLbl>
              <c:idx val="4"/>
              <c:delete val="1"/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'[picture3-hybrid.xlsx]1'!$B$1:$F$1</c:f>
              <c:numCache>
                <c:formatCode>General</c:formatCode>
                <c:ptCount val="5"/>
                <c:pt idx="0">
                  <c:v>60</c:v>
                </c:pt>
                <c:pt idx="1">
                  <c:v>120</c:v>
                </c:pt>
                <c:pt idx="2">
                  <c:v>180</c:v>
                </c:pt>
                <c:pt idx="3">
                  <c:v>240</c:v>
                </c:pt>
                <c:pt idx="4">
                  <c:v>300</c:v>
                </c:pt>
              </c:numCache>
            </c:numRef>
          </c:cat>
          <c:val>
            <c:numRef>
              <c:f>'[picture3-hybrid.xlsx]1'!$B$3:$F$3</c:f>
              <c:numCache>
                <c:formatCode>General</c:formatCode>
                <c:ptCount val="5"/>
                <c:pt idx="0">
                  <c:v>155</c:v>
                </c:pt>
                <c:pt idx="1">
                  <c:v>160</c:v>
                </c:pt>
                <c:pt idx="2">
                  <c:v>163</c:v>
                </c:pt>
                <c:pt idx="3">
                  <c:v>160</c:v>
                </c:pt>
                <c:pt idx="4">
                  <c:v>158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'[picture3-hybrid.xlsx]1'!$A$4</c:f>
              <c:strCache>
                <c:ptCount val="1"/>
                <c:pt idx="0">
                  <c:v>  i_Limit=6</c:v>
                </c:pt>
              </c:strCache>
            </c:strRef>
          </c:tx>
          <c:spPr>
            <a:ln w="22225" cap="rnd">
              <a:solidFill>
                <a:schemeClr val="bg1">
                  <a:lumMod val="65000"/>
                  <a:alpha val="75000"/>
                </a:schemeClr>
              </a:solidFill>
              <a:round/>
            </a:ln>
            <a:effectLst/>
          </c:spPr>
          <c:marker>
            <c:symbol val="triangle"/>
            <c:size val="6"/>
            <c:spPr>
              <a:solidFill>
                <a:schemeClr val="bg1">
                  <a:lumMod val="65000"/>
                  <a:alpha val="75000"/>
                </a:schemeClr>
              </a:solidFill>
              <a:ln w="9525">
                <a:solidFill>
                  <a:schemeClr val="bg1">
                    <a:lumMod val="65000"/>
                    <a:alpha val="75000"/>
                  </a:schemeClr>
                </a:solidFill>
                <a:round/>
              </a:ln>
              <a:effectLst/>
            </c:spPr>
          </c:marker>
          <c:dLbls>
            <c:dLbl>
              <c:idx val="0"/>
              <c:layout>
                <c:manualLayout>
                  <c:x val="-0.00132450331125828"/>
                  <c:y val="0.097875387920744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layout>
                <c:manualLayout>
                  <c:x val="0.0105960264900662"/>
                  <c:y val="0.02387204583432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.023841059602649"/>
                  <c:y val="0.0501312962520888"/>
                </c:manualLayout>
              </c:layout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'[picture3-hybrid.xlsx]1'!$B$1:$F$1</c:f>
              <c:numCache>
                <c:formatCode>General</c:formatCode>
                <c:ptCount val="5"/>
                <c:pt idx="0">
                  <c:v>60</c:v>
                </c:pt>
                <c:pt idx="1">
                  <c:v>120</c:v>
                </c:pt>
                <c:pt idx="2">
                  <c:v>180</c:v>
                </c:pt>
                <c:pt idx="3">
                  <c:v>240</c:v>
                </c:pt>
                <c:pt idx="4">
                  <c:v>300</c:v>
                </c:pt>
              </c:numCache>
            </c:numRef>
          </c:cat>
          <c:val>
            <c:numRef>
              <c:f>'[picture3-hybrid.xlsx]1'!$B$4:$F$4</c:f>
              <c:numCache>
                <c:formatCode>General</c:formatCode>
                <c:ptCount val="5"/>
                <c:pt idx="0">
                  <c:v>154</c:v>
                </c:pt>
                <c:pt idx="1">
                  <c:v>157</c:v>
                </c:pt>
                <c:pt idx="2">
                  <c:v>160</c:v>
                </c:pt>
                <c:pt idx="3">
                  <c:v>158</c:v>
                </c:pt>
                <c:pt idx="4">
                  <c:v>157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904424623"/>
        <c:axId val="928421735"/>
      </c:lineChart>
      <c:catAx>
        <c:axId val="904424623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Time</a:t>
                </a:r>
                <a:r>
                  <a:rPr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(s)</a:t>
                </a:r>
                <a:endParaRPr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896026490066225"/>
              <c:y val="0.816787239492613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928421735"/>
        <c:crosses val="autoZero"/>
        <c:auto val="1"/>
        <c:lblAlgn val="ctr"/>
        <c:lblOffset val="100"/>
        <c:noMultiLvlLbl val="0"/>
      </c:catAx>
      <c:valAx>
        <c:axId val="928421735"/>
        <c:scaling>
          <c:orientation val="minMax"/>
          <c:min val="15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solved count</a:t>
                </a:r>
                <a:endParaRPr sz="900"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0137748344370861"/>
              <c:y val="0.314121281621679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904424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</c:legendEntry>
      <c:layout>
        <c:manualLayout>
          <c:xMode val="edge"/>
          <c:yMode val="edge"/>
          <c:x val="0.222781456953642"/>
          <c:y val="0.901075019491342"/>
          <c:w val="0.619205298013245"/>
          <c:h val="0.082849486377847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Cambria" panose="02040503050406030204" charset="0"/>
            </a:defRPr>
          </a:pPr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638888888889"/>
          <c:y val="0.113924050632911"/>
          <c:w val="0.772972222222222"/>
          <c:h val="0.72820253164557"/>
        </c:manualLayout>
      </c:layout>
      <c:lineChart>
        <c:grouping val="standard"/>
        <c:varyColors val="0"/>
        <c:ser>
          <c:idx val="0"/>
          <c:order val="0"/>
          <c:spPr>
            <a:ln w="19050" cap="rnd">
              <a:solidFill>
                <a:schemeClr val="accent1">
                  <a:alpha val="70000"/>
                </a:schemeClr>
              </a:solidFill>
              <a:round/>
              <a:headEnd type="oval"/>
              <a:tailEnd type="oval"/>
            </a:ln>
            <a:effectLst/>
            <a:sp3d contourW="19050"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'[picture3-hybrid.xlsx]2'!$B$2:$J$2</c:f>
              <c:numCache>
                <c:formatCode>General</c:formatCode>
                <c:ptCount val="9"/>
                <c:pt idx="0">
                  <c:v>151</c:v>
                </c:pt>
                <c:pt idx="1">
                  <c:v>154</c:v>
                </c:pt>
                <c:pt idx="2">
                  <c:v>157</c:v>
                </c:pt>
                <c:pt idx="3">
                  <c:v>160</c:v>
                </c:pt>
                <c:pt idx="4">
                  <c:v>163</c:v>
                </c:pt>
                <c:pt idx="5">
                  <c:v>160</c:v>
                </c:pt>
                <c:pt idx="6">
                  <c:v>158</c:v>
                </c:pt>
                <c:pt idx="7">
                  <c:v>157</c:v>
                </c:pt>
                <c:pt idx="8">
                  <c:v>157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0"/>
        <c:smooth val="0"/>
        <c:axId val="334493819"/>
        <c:axId val="922700227"/>
      </c:lineChart>
      <c:catAx>
        <c:axId val="334493819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 b="0"/>
                  <a:t>i_Limit</a:t>
                </a:r>
                <a:endParaRPr lang="en-US" altLang="zh-CN" b="0"/>
              </a:p>
            </c:rich>
          </c:tx>
          <c:layout>
            <c:manualLayout>
              <c:xMode val="edge"/>
              <c:yMode val="edge"/>
              <c:x val="0.897777777777778"/>
              <c:y val="0.859939052977028"/>
            </c:manualLayout>
          </c:layout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922700227"/>
        <c:crosses val="autoZero"/>
        <c:auto val="1"/>
        <c:lblAlgn val="ctr"/>
        <c:lblOffset val="100"/>
        <c:noMultiLvlLbl val="0"/>
      </c:catAx>
      <c:valAx>
        <c:axId val="922700227"/>
        <c:scaling>
          <c:orientation val="minMax"/>
          <c:max val="166"/>
          <c:min val="148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lang="en-US" altLang="zh-CN" sz="900"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rPr>
                  <a:t>SOLVED COUNT</a:t>
                </a:r>
                <a:endParaRPr lang="en-US" altLang="zh-CN" sz="900">
                  <a:latin typeface="Cambria" panose="02040503050406030204" charset="0"/>
                  <a:ea typeface="Cambria" panose="02040503050406030204" charset="0"/>
                  <a:cs typeface="Cambria" panose="02040503050406030204" charset="0"/>
                  <a:sym typeface="Cambria" panose="02040503050406030204" charset="0"/>
                </a:endParaRPr>
              </a:p>
            </c:rich>
          </c:tx>
          <c:layout>
            <c:manualLayout>
              <c:xMode val="edge"/>
              <c:yMode val="edge"/>
              <c:x val="0.0122222222222222"/>
              <c:y val="0.32584798406001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3344938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2923588039867"/>
          <c:y val="0.132428278688525"/>
          <c:w val="0.846760797342193"/>
          <c:h val="0.71767418032786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'[picture3-hybrid.xlsx]3'!$A$2:$A$8</c:f>
              <c:strCache>
                <c:ptCount val="7"/>
                <c:pt idx="0">
                  <c:v>HYBRID-CAR</c:v>
                </c:pt>
                <c:pt idx="1">
                  <c:v>BAC</c:v>
                </c:pt>
                <c:pt idx="2">
                  <c:v>ABC-BMC</c:v>
                </c:pt>
                <c:pt idx="3">
                  <c:v>BICAR</c:v>
                </c:pt>
                <c:pt idx="4">
                  <c:v>KCAR</c:v>
                </c:pt>
                <c:pt idx="5">
                  <c:v>CAR</c:v>
                </c:pt>
                <c:pt idx="6">
                  <c:v>OVERALL</c:v>
                </c:pt>
              </c:strCache>
            </c:strRef>
          </c:cat>
          <c:val>
            <c:numRef>
              <c:f>'[picture3-hybrid.xlsx]3'!$B$2:$B$8</c:f>
              <c:numCache>
                <c:formatCode>General</c:formatCode>
                <c:ptCount val="7"/>
                <c:pt idx="0">
                  <c:v>163</c:v>
                </c:pt>
                <c:pt idx="1">
                  <c:v>161</c:v>
                </c:pt>
                <c:pt idx="2">
                  <c:v>159</c:v>
                </c:pt>
                <c:pt idx="3">
                  <c:v>155</c:v>
                </c:pt>
                <c:pt idx="4">
                  <c:v>150</c:v>
                </c:pt>
                <c:pt idx="5">
                  <c:v>148</c:v>
                </c:pt>
                <c:pt idx="6">
                  <c:v>178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12408319"/>
        <c:axId val="470834519"/>
      </c:barChart>
      <c:catAx>
        <c:axId val="312408319"/>
        <c:scaling>
          <c:orientation val="minMax"/>
        </c:scaling>
        <c:delete val="0"/>
        <c:axPos val="b"/>
        <c:numFmt formatCode="&quot;￥&quot;#,##0.00_);[Red]\(&quot;￥&quot;#,##0.0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470834519"/>
        <c:crosses val="autoZero"/>
        <c:auto val="1"/>
        <c:lblAlgn val="ctr"/>
        <c:lblOffset val="100"/>
        <c:noMultiLvlLbl val="0"/>
      </c:catAx>
      <c:valAx>
        <c:axId val="470834519"/>
        <c:scaling>
          <c:orientation val="minMax"/>
          <c:max val="180"/>
          <c:min val="12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ambria" panose="02040503050406030204" charset="0"/>
                    <a:ea typeface="Cambria" panose="02040503050406030204" charset="0"/>
                    <a:cs typeface="Cambria" panose="02040503050406030204" charset="0"/>
                    <a:sym typeface="Cambria" panose="02040503050406030204" charset="0"/>
                  </a:defRPr>
                </a:pPr>
                <a:r>
                  <a:rPr sz="900" b="0"/>
                  <a:t>SOLVED COUNT</a:t>
                </a:r>
                <a:endParaRPr sz="900" b="0"/>
              </a:p>
            </c:rich>
          </c:tx>
          <c:layout>
            <c:manualLayout>
              <c:xMode val="edge"/>
              <c:yMode val="edge"/>
              <c:x val="0.0101215083508715"/>
              <c:y val="0.326096169876434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Cambria" panose="02040503050406030204" charset="0"/>
              </a:defRPr>
            </a:pPr>
          </a:p>
        </c:txPr>
        <c:crossAx val="31240831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lang="zh-CN" b="1">
          <a:latin typeface="Cambria" panose="02040503050406030204" charset="0"/>
          <a:ea typeface="Cambria" panose="02040503050406030204" charset="0"/>
          <a:cs typeface="Cambria" panose="02040503050406030204" charset="0"/>
          <a:sym typeface="Cambria" panose="02040503050406030204" charset="0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3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900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0.955331412103746</cdr:x>
      <cdr:y>0.80306905370844</cdr:y>
    </cdr:from>
    <cdr:to>
      <cdr:x>0.987031700288184</cdr:x>
      <cdr:y>0.887468030690537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4210050" y="1993900"/>
          <a:ext cx="139700" cy="209550"/>
        </a:xfrm>
        <a:prstGeom xmlns:a="http://schemas.openxmlformats.org/drawingml/2006/main" prst="rect">
          <a:avLst/>
        </a:prstGeom>
      </cdr:spPr>
      <cdr:txBody xmlns:a="http://schemas.openxmlformats.org/drawingml/2006/main">
        <a:bodyPr vertOverflow="clip" horzOverflow="clip" vert="horz" wrap="square" lIns="45720" tIns="45720" rIns="45720" bIns="45720" rtlCol="0" anchor="t" anchorCtr="0">
          <a:normAutofit/>
        </a:bodyPr>
        <a:p>
          <a:endParaRPr lang="zh-CN" altLang="en-US"/>
        </a:p>
      </cdr:txBody>
    </cdr:sp>
  </cdr:relSizeAnchor>
  <cdr:relSizeAnchor xmlns:cdr="http://schemas.openxmlformats.org/drawingml/2006/chartDrawing">
    <cdr:from>
      <cdr:x>0.962713113399958</cdr:x>
      <cdr:y>0.803592095608681</cdr:y>
    </cdr:from>
    <cdr:to>
      <cdr:x>0.99724070658112</cdr:x>
      <cdr:y>0.925822806074686</cdr:y>
    </cdr:to>
    <cdr:sp>
      <cdr:nvSpPr>
        <cdr:cNvPr id="3" name="矩形 2"/>
        <cdr:cNvSpPr/>
      </cdr:nvSpPr>
      <cdr:spPr xmlns:a="http://schemas.openxmlformats.org/drawingml/2006/main">
        <a:xfrm xmlns:a="http://schemas.openxmlformats.org/drawingml/2006/main">
          <a:off x="4252362" y="1973257"/>
          <a:ext cx="152510" cy="300143"/>
        </a:xfrm>
        <a:prstGeom xmlns:a="http://schemas.openxmlformats.org/drawingml/2006/main" prst="rect">
          <a:avLst/>
        </a:prstGeom>
        <a:ln>
          <a:noFill/>
        </a:ln>
      </cdr:spPr>
      <cdr:txBody xmlns:a="http://schemas.openxmlformats.org/drawingml/2006/main">
        <a:bodyPr vertOverflow="clip" horzOverflow="clip" vert="horz" wrap="square" lIns="45720" tIns="45720" rIns="45720" bIns="45720" rtlCol="0" anchor="t" anchorCtr="0">
          <a:normAutofit/>
        </a:bodyPr>
        <a:p>
          <a:endParaRPr lang="en-US" altLang="zh-CN">
            <a:solidFill>
              <a:sysClr val="windowText" lastClr="000000"/>
            </a:solidFill>
            <a:latin typeface="Cambria" panose="02040503050406030204" charset="0"/>
            <a:cs typeface="Cambria" panose="02040503050406030204" charset="0"/>
          </a:endParaRPr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chart" Target="../charts/chart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图表 8"/>
          <p:cNvGraphicFramePr/>
          <p:nvPr>
            <p:custDataLst>
              <p:tags r:id="rId2"/>
            </p:custDataLst>
          </p:nvPr>
        </p:nvGraphicFramePr>
        <p:xfrm>
          <a:off x="3823335" y="2183765"/>
          <a:ext cx="4545330" cy="24904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" name="图表 6"/>
          <p:cNvGraphicFramePr/>
          <p:nvPr>
            <p:custDataLst>
              <p:tags r:id="rId2"/>
            </p:custDataLst>
          </p:nvPr>
        </p:nvGraphicFramePr>
        <p:xfrm>
          <a:off x="3497898" y="2065973"/>
          <a:ext cx="5196205" cy="2726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" name="图表 9"/>
          <p:cNvGraphicFramePr/>
          <p:nvPr>
            <p:custDataLst>
              <p:tags r:id="rId2"/>
            </p:custDataLst>
          </p:nvPr>
        </p:nvGraphicFramePr>
        <p:xfrm>
          <a:off x="3892868" y="2224088"/>
          <a:ext cx="4406265" cy="240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8058150" y="4302125"/>
            <a:ext cx="406400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i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图表 7"/>
          <p:cNvGraphicFramePr/>
          <p:nvPr>
            <p:custDataLst>
              <p:tags r:id="rId2"/>
            </p:custDataLst>
          </p:nvPr>
        </p:nvGraphicFramePr>
        <p:xfrm>
          <a:off x="3369310" y="2093913"/>
          <a:ext cx="5453380" cy="2670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3612515" y="2228215"/>
          <a:ext cx="4966970" cy="24015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图表 5"/>
          <p:cNvGraphicFramePr/>
          <p:nvPr>
            <p:custDataLst>
              <p:tags r:id="rId2"/>
            </p:custDataLst>
          </p:nvPr>
        </p:nvGraphicFramePr>
        <p:xfrm>
          <a:off x="3810635" y="2125663"/>
          <a:ext cx="4570730" cy="260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图表 4"/>
          <p:cNvGraphicFramePr/>
          <p:nvPr>
            <p:custDataLst>
              <p:tags r:id="rId2"/>
            </p:custDataLst>
          </p:nvPr>
        </p:nvGraphicFramePr>
        <p:xfrm>
          <a:off x="3810000" y="2174558"/>
          <a:ext cx="4572000" cy="2508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" name="图表 5"/>
          <p:cNvGraphicFramePr/>
          <p:nvPr>
            <p:custDataLst>
              <p:tags r:id="rId2"/>
            </p:custDataLst>
          </p:nvPr>
        </p:nvGraphicFramePr>
        <p:xfrm>
          <a:off x="3787458" y="2147253"/>
          <a:ext cx="4617085" cy="2563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图表 3"/>
          <p:cNvGraphicFramePr/>
          <p:nvPr>
            <p:custDataLst>
              <p:tags r:id="rId2"/>
            </p:custDataLst>
          </p:nvPr>
        </p:nvGraphicFramePr>
        <p:xfrm>
          <a:off x="3810000" y="2174875"/>
          <a:ext cx="4572000" cy="250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1" name="图表 10"/>
          <p:cNvGraphicFramePr/>
          <p:nvPr>
            <p:custDataLst>
              <p:tags r:id="rId2"/>
            </p:custDataLst>
          </p:nvPr>
        </p:nvGraphicFramePr>
        <p:xfrm>
          <a:off x="3737610" y="2200275"/>
          <a:ext cx="4995545" cy="24390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COMMONDATA" val="eyJoZGlkIjoiZDcxYjIxMjA1NzIxYWY0NjdhYTYwMGVjYzFiZjNhM2I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WPS 演示</Application>
  <PresentationFormat>宽屏</PresentationFormat>
  <Paragraphs>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Cambria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IMAGINE</cp:lastModifiedBy>
  <cp:revision>232</cp:revision>
  <dcterms:created xsi:type="dcterms:W3CDTF">2019-06-19T02:08:00Z</dcterms:created>
  <dcterms:modified xsi:type="dcterms:W3CDTF">2023-05-22T02:01:22Z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C4EB4EB310704B00BEB42CD29D92484A_11</vt:lpwstr>
  </property>
</Properties>
</file>